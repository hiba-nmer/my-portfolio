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16175"/>
            <a:ext cx="7772400" cy="1470025"/>
          </a:xfrm>
        </p:spPr>
        <p:txBody>
          <a:bodyPr/>
          <a:lstStyle/>
          <a:p>
            <a:pPr algn="ctr"/>
            <a:r>
              <a:rPr sz="4400" b="1" dirty="0" err="1">
                <a:solidFill>
                  <a:srgbClr val="2C3E50"/>
                </a:solidFill>
              </a:rPr>
              <a:t>CleanSwift</a:t>
            </a:r>
            <a:r>
              <a:rPr sz="4400" b="1" dirty="0">
                <a:solidFill>
                  <a:srgbClr val="2C3E50"/>
                </a:solidFill>
              </a:rPr>
              <a:t> Laundry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50212"/>
            <a:ext cx="6400800" cy="2453640"/>
          </a:xfrm>
        </p:spPr>
        <p:txBody>
          <a:bodyPr>
            <a:normAutofit/>
          </a:bodyPr>
          <a:lstStyle/>
          <a:p>
            <a:pPr algn="ctr"/>
            <a:r>
              <a:rPr sz="3200" b="0" dirty="0">
                <a:solidFill>
                  <a:srgbClr val="3498DB"/>
                </a:solidFill>
              </a:rPr>
              <a:t>Marketing Plan</a:t>
            </a:r>
          </a:p>
          <a:p>
            <a:pPr algn="ctr"/>
            <a:r>
              <a:rPr sz="2000" dirty="0">
                <a:solidFill>
                  <a:srgbClr val="2C3E50"/>
                </a:solidFill>
              </a:rPr>
              <a:t>
Presented by: Heba </a:t>
            </a:r>
            <a:r>
              <a:rPr sz="2000" dirty="0" err="1">
                <a:solidFill>
                  <a:srgbClr val="2C3E50"/>
                </a:solidFill>
              </a:rPr>
              <a:t>Saayda</a:t>
            </a:r>
            <a:endParaRPr sz="2000" dirty="0">
              <a:solidFill>
                <a:srgbClr val="2C3E50"/>
              </a:solidFill>
            </a:endParaRPr>
          </a:p>
          <a:p>
            <a:pPr algn="ctr"/>
            <a:r>
              <a:rPr sz="1600" dirty="0">
                <a:solidFill>
                  <a:srgbClr val="2C3E50"/>
                </a:solidFill>
              </a:rPr>
              <a:t>E-commerce Major, </a:t>
            </a:r>
            <a:r>
              <a:rPr sz="1600" dirty="0" err="1">
                <a:solidFill>
                  <a:srgbClr val="2C3E50"/>
                </a:solidFill>
              </a:rPr>
              <a:t>Khadouri</a:t>
            </a:r>
            <a:r>
              <a:rPr sz="1600" dirty="0">
                <a:solidFill>
                  <a:srgbClr val="2C3E50"/>
                </a:solidFill>
              </a:rPr>
              <a:t> University</a:t>
            </a:r>
          </a:p>
          <a:p>
            <a:pPr algn="ctr"/>
            <a:r>
              <a:rPr sz="1600" dirty="0">
                <a:solidFill>
                  <a:srgbClr val="2C3E50"/>
                </a:solidFill>
              </a:rPr>
              <a:t>Course: Electronic Marketing</a:t>
            </a:r>
          </a:p>
          <a:p>
            <a:pPr algn="ctr"/>
            <a:r>
              <a:rPr sz="1600" dirty="0">
                <a:solidFill>
                  <a:srgbClr val="2C3E50"/>
                </a:solidFill>
              </a:rPr>
              <a:t>Instructor: </a:t>
            </a:r>
            <a:r>
              <a:rPr sz="1600" dirty="0" err="1">
                <a:solidFill>
                  <a:srgbClr val="2C3E50"/>
                </a:solidFill>
              </a:rPr>
              <a:t>Shaima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Bowaghni</a:t>
            </a:r>
            <a:endParaRPr sz="1600" dirty="0">
              <a:solidFill>
                <a:srgbClr val="2C3E50"/>
              </a:solidFill>
            </a:endParaRPr>
          </a:p>
        </p:txBody>
      </p:sp>
      <p:pic>
        <p:nvPicPr>
          <p:cNvPr id="4" name="Picture 3" descr="cleanswi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321" y="1162979"/>
            <a:ext cx="1373358" cy="13733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2C3E50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17638"/>
            <a:ext cx="9812215" cy="4708525"/>
          </a:xfrm>
        </p:spPr>
        <p:txBody>
          <a:bodyPr/>
          <a:lstStyle/>
          <a:p>
            <a:pPr algn="l"/>
            <a:endParaRPr dirty="0"/>
          </a:p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</a:rPr>
              <a:t>    </a:t>
            </a:r>
            <a:r>
              <a:rPr sz="2000" b="1" dirty="0">
                <a:solidFill>
                  <a:srgbClr val="2C3E50"/>
                </a:solidFill>
              </a:rPr>
              <a:t>Innovative laundry and ironing service app for </a:t>
            </a:r>
            <a:r>
              <a:rPr sz="2000" b="1" dirty="0" err="1">
                <a:solidFill>
                  <a:srgbClr val="2C3E50"/>
                </a:solidFill>
              </a:rPr>
              <a:t>Tulkarm</a:t>
            </a:r>
            <a:r>
              <a:rPr sz="2000" b="1" dirty="0">
                <a:solidFill>
                  <a:srgbClr val="2C3E50"/>
                </a:solidFill>
              </a:rPr>
              <a:t>, Palestine</a:t>
            </a:r>
          </a:p>
          <a:p>
            <a:r>
              <a:rPr sz="2000" b="0" dirty="0">
                <a:solidFill>
                  <a:srgbClr val="2C3E50"/>
                </a:solidFill>
              </a:rPr>
              <a:t>Addresses the needs of busy professionals, families, and students</a:t>
            </a:r>
          </a:p>
          <a:p>
            <a:r>
              <a:rPr sz="2000" b="0" dirty="0">
                <a:solidFill>
                  <a:srgbClr val="2C3E50"/>
                </a:solidFill>
              </a:rPr>
              <a:t>Comprehensive service: pickup, washing, ironing, delivery</a:t>
            </a:r>
          </a:p>
          <a:p>
            <a:r>
              <a:rPr sz="2000" b="0" dirty="0">
                <a:solidFill>
                  <a:srgbClr val="2C3E50"/>
                </a:solidFill>
              </a:rPr>
              <a:t>User-friendly mobile app for ordering, tracking, and payment</a:t>
            </a:r>
          </a:p>
          <a:p>
            <a:r>
              <a:rPr sz="2000" b="0" dirty="0">
                <a:solidFill>
                  <a:srgbClr val="2C3E50"/>
                </a:solidFill>
              </a:rPr>
              <a:t>Differentiated by convenience, quality, and technology</a:t>
            </a:r>
          </a:p>
          <a:p>
            <a:r>
              <a:rPr sz="2000" b="0" dirty="0">
                <a:solidFill>
                  <a:srgbClr val="2C3E50"/>
                </a:solidFill>
              </a:rPr>
              <a:t>Local operations model to address transportation challenges</a:t>
            </a:r>
          </a:p>
          <a:p>
            <a:r>
              <a:rPr sz="2000" b="0" dirty="0">
                <a:solidFill>
                  <a:srgbClr val="2C3E50"/>
                </a:solidFill>
              </a:rPr>
              <a:t>Clear marketing objectives and implementation strategy</a:t>
            </a:r>
            <a:endParaRPr sz="1800" b="0" dirty="0">
              <a:solidFill>
                <a:srgbClr val="2C3E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2C3E50"/>
                </a:solidFill>
              </a:rPr>
              <a:t>Mission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3498DB"/>
                </a:solidFill>
              </a:rPr>
              <a:t>Mission Statement:</a:t>
            </a:r>
          </a:p>
          <a:p>
            <a:r>
              <a:rPr sz="1800">
                <a:solidFill>
                  <a:srgbClr val="2C3E50"/>
                </a:solidFill>
              </a:rPr>
              <a:t>To simplify the lives of busy individuals and families by providing a convenient, reliable, and high-quality laundry and ironing service accessible through an easy-to-use mobile application.</a:t>
            </a:r>
          </a:p>
          <a:p>
            <a:pPr>
              <a:spcBef>
                <a:spcPts val="2000"/>
              </a:spcBef>
            </a:pPr>
            <a:r>
              <a:rPr sz="2400" b="1">
                <a:solidFill>
                  <a:srgbClr val="3498DB"/>
                </a:solidFill>
              </a:rPr>
              <a:t>Key Resources:</a:t>
            </a:r>
          </a:p>
          <a:p>
            <a:r>
              <a:rPr sz="1800" b="0">
                <a:solidFill>
                  <a:srgbClr val="2C3E50"/>
                </a:solidFill>
              </a:rPr>
              <a:t>Technological: Mobile app for iOS and Android platforms</a:t>
            </a:r>
          </a:p>
          <a:p>
            <a:r>
              <a:rPr sz="1800" b="0">
                <a:solidFill>
                  <a:srgbClr val="2C3E50"/>
                </a:solidFill>
              </a:rPr>
              <a:t>Human: Skilled laundry professionals and delivery drivers</a:t>
            </a:r>
          </a:p>
          <a:p>
            <a:r>
              <a:rPr sz="1800" b="0">
                <a:solidFill>
                  <a:srgbClr val="2C3E50"/>
                </a:solidFill>
              </a:rPr>
              <a:t>Physical: Local laundry facilities with industrial equipment</a:t>
            </a:r>
          </a:p>
          <a:p>
            <a:r>
              <a:rPr sz="1800" b="0">
                <a:solidFill>
                  <a:srgbClr val="2C3E50"/>
                </a:solidFill>
              </a:rPr>
              <a:t>Financial: Initial funding for development and operations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778" y="148031"/>
            <a:ext cx="8229600" cy="1143000"/>
          </a:xfrm>
        </p:spPr>
        <p:txBody>
          <a:bodyPr/>
          <a:lstStyle/>
          <a:p>
            <a:pPr algn="l"/>
            <a:r>
              <a:rPr sz="3600" b="1" dirty="0">
                <a:solidFill>
                  <a:srgbClr val="2C3E50"/>
                </a:solidFill>
              </a:rPr>
              <a:t>Services Offered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658766"/>
              </p:ext>
            </p:extLst>
          </p:nvPr>
        </p:nvGraphicFramePr>
        <p:xfrm>
          <a:off x="161778" y="1417638"/>
          <a:ext cx="8820444" cy="5165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0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0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0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0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06958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Pricing Mechanism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Key Benefit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4691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C3E50"/>
                          </a:solidFill>
                        </a:rPr>
                        <a:t>Wash &amp; 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2C3E50"/>
                          </a:solidFill>
                        </a:rPr>
                        <a:t>Washing, drying, and folding everyday clothes with high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C3E50"/>
                          </a:solidFill>
                        </a:rPr>
                        <a:t>Per kilogram / Per bag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C3E50"/>
                          </a:solidFill>
                        </a:rPr>
                        <a:t>Time and effort saving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4691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C3E50"/>
                          </a:solidFill>
                        </a:rPr>
                        <a:t>Professional Ironing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C3E50"/>
                          </a:solidFill>
                        </a:rPr>
                        <a:t>Carefully ironing clothes to ensure they are wrinkle-free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C3E50"/>
                          </a:solidFill>
                        </a:rPr>
                        <a:t>Per piece / Per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2C3E50"/>
                          </a:solidFill>
                        </a:rPr>
                        <a:t>Ready-to-wear clothes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4691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C3E50"/>
                          </a:solidFill>
                        </a:rPr>
                        <a:t>Dry Cleaning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C3E50"/>
                          </a:solidFill>
                        </a:rPr>
                        <a:t>Specialized cleaning for delicate clothes (via partners)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C3E50"/>
                          </a:solidFill>
                        </a:rPr>
                        <a:t>Per piece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C3E50"/>
                          </a:solidFill>
                        </a:rPr>
                        <a:t>Preservation of delicate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4691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C3E50"/>
                          </a:solidFill>
                        </a:rPr>
                        <a:t>App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C3E50"/>
                          </a:solidFill>
                        </a:rPr>
                        <a:t>Easy ordering, tracking, payment, preference customization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C3E50"/>
                          </a:solidFill>
                        </a:rPr>
                        <a:t>Included in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2C3E50"/>
                          </a:solidFill>
                        </a:rPr>
                        <a:t>Convenience and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2C3E50"/>
                </a:solidFill>
              </a:rPr>
              <a:t>PESTEL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388" y="1009357"/>
            <a:ext cx="8229600" cy="4525963"/>
          </a:xfrm>
        </p:spPr>
        <p:txBody>
          <a:bodyPr/>
          <a:lstStyle/>
          <a:p>
            <a:pPr algn="l"/>
            <a:endParaRPr dirty="0"/>
          </a:p>
          <a:p>
            <a:r>
              <a:rPr sz="2000" b="1" dirty="0">
                <a:solidFill>
                  <a:srgbClr val="2C3E50"/>
                </a:solidFill>
              </a:rPr>
              <a:t>Political: </a:t>
            </a:r>
            <a:r>
              <a:rPr sz="1800" dirty="0">
                <a:solidFill>
                  <a:srgbClr val="2C3E50"/>
                </a:solidFill>
              </a:rPr>
              <a:t>Local business regulations, labor laws, data privacy laws</a:t>
            </a:r>
          </a:p>
          <a:p>
            <a:r>
              <a:rPr sz="2000" b="1" dirty="0">
                <a:solidFill>
                  <a:srgbClr val="2ECC71"/>
                </a:solidFill>
              </a:rPr>
              <a:t>Economic: </a:t>
            </a:r>
            <a:r>
              <a:rPr sz="1800" dirty="0">
                <a:solidFill>
                  <a:srgbClr val="2C3E50"/>
                </a:solidFill>
              </a:rPr>
              <a:t>Disposable income, economic growth, inflation, consumer spending</a:t>
            </a:r>
          </a:p>
          <a:p>
            <a:r>
              <a:rPr sz="2000" b="1" dirty="0">
                <a:solidFill>
                  <a:srgbClr val="3498DB"/>
                </a:solidFill>
              </a:rPr>
              <a:t>Social: </a:t>
            </a:r>
            <a:r>
              <a:rPr sz="1800" dirty="0">
                <a:solidFill>
                  <a:srgbClr val="2C3E50"/>
                </a:solidFill>
              </a:rPr>
              <a:t>Busy lifestyles, attitudes toward outsourcing, technology adoption</a:t>
            </a:r>
          </a:p>
          <a:p>
            <a:r>
              <a:rPr sz="2000" b="1" dirty="0">
                <a:solidFill>
                  <a:srgbClr val="F1C40F"/>
                </a:solidFill>
              </a:rPr>
              <a:t>Technological: </a:t>
            </a:r>
            <a:r>
              <a:rPr sz="1800" dirty="0">
                <a:solidFill>
                  <a:srgbClr val="2C3E50"/>
                </a:solidFill>
              </a:rPr>
              <a:t>Smartphone penetration, internet reliability, payment systems</a:t>
            </a:r>
          </a:p>
          <a:p>
            <a:r>
              <a:rPr sz="2000" b="1" dirty="0">
                <a:solidFill>
                  <a:srgbClr val="2ECC71"/>
                </a:solidFill>
              </a:rPr>
              <a:t>Environmental: </a:t>
            </a:r>
            <a:r>
              <a:rPr sz="1800" dirty="0">
                <a:solidFill>
                  <a:srgbClr val="2C3E50"/>
                </a:solidFill>
              </a:rPr>
              <a:t>Water/energy consumption, eco-friendly detergents, carbon footprint</a:t>
            </a:r>
          </a:p>
          <a:p>
            <a:r>
              <a:rPr sz="2000" b="1" dirty="0">
                <a:solidFill>
                  <a:srgbClr val="E74C3C"/>
                </a:solidFill>
              </a:rPr>
              <a:t>Legal: </a:t>
            </a:r>
            <a:r>
              <a:rPr sz="1800" dirty="0">
                <a:solidFill>
                  <a:srgbClr val="2C3E50"/>
                </a:solidFill>
              </a:rPr>
              <a:t>Consumer protection laws, health &amp; safety regulations, licensing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2E824B3D-F9D3-4C81-814D-D022709B8F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56656" y="0"/>
            <a:ext cx="92006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476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wo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8029"/>
            <a:ext cx="7272997" cy="64075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3723" y="335866"/>
            <a:ext cx="8229600" cy="1143000"/>
          </a:xfrm>
        </p:spPr>
        <p:txBody>
          <a:bodyPr/>
          <a:lstStyle/>
          <a:p>
            <a:pPr algn="l"/>
            <a:r>
              <a:rPr sz="3600" b="1" dirty="0">
                <a:solidFill>
                  <a:srgbClr val="2C3E50"/>
                </a:solidFill>
              </a:rP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5202"/>
            <a:ext cx="5873261" cy="5232864"/>
          </a:xfrm>
        </p:spPr>
        <p:txBody>
          <a:bodyPr>
            <a:normAutofit lnSpcReduction="10000"/>
          </a:bodyPr>
          <a:lstStyle/>
          <a:p>
            <a:pPr algn="l"/>
            <a:r>
              <a:rPr sz="2800" b="1" dirty="0">
                <a:solidFill>
                  <a:srgbClr val="3498DB"/>
                </a:solidFill>
              </a:rPr>
              <a:t>Primary Market Segments:</a:t>
            </a:r>
          </a:p>
          <a:p>
            <a:r>
              <a:rPr sz="2400" b="1" dirty="0">
                <a:solidFill>
                  <a:srgbClr val="2C3E50"/>
                </a:solidFill>
              </a:rPr>
              <a:t>1. Busy Professionals &amp; Dual-Income Families</a:t>
            </a:r>
          </a:p>
          <a:p>
            <a:pPr lvl="1"/>
            <a:r>
              <a:rPr sz="2000" b="0" dirty="0">
                <a:solidFill>
                  <a:srgbClr val="2C3E50"/>
                </a:solidFill>
              </a:rPr>
              <a:t>Age: 25-50 years</a:t>
            </a:r>
          </a:p>
          <a:p>
            <a:pPr lvl="1"/>
            <a:r>
              <a:rPr sz="2000" b="0" dirty="0">
                <a:solidFill>
                  <a:srgbClr val="2C3E50"/>
                </a:solidFill>
              </a:rPr>
              <a:t>Income: Medium to high</a:t>
            </a:r>
          </a:p>
          <a:p>
            <a:pPr lvl="1"/>
            <a:r>
              <a:rPr sz="2000" b="0" dirty="0">
                <a:solidFill>
                  <a:srgbClr val="2C3E50"/>
                </a:solidFill>
              </a:rPr>
              <a:t>Characteristics: Value time, busy schedules, quality-conscious</a:t>
            </a:r>
          </a:p>
          <a:p>
            <a:pPr lvl="1"/>
            <a:r>
              <a:rPr sz="2000" b="0" dirty="0">
                <a:solidFill>
                  <a:srgbClr val="2C3E50"/>
                </a:solidFill>
              </a:rPr>
              <a:t>Key message: "Reclaim your time, we'll handle your laundry"</a:t>
            </a:r>
          </a:p>
          <a:p>
            <a:pPr>
              <a:spcBef>
                <a:spcPts val="1000"/>
              </a:spcBef>
            </a:pPr>
            <a:r>
              <a:rPr sz="2400" b="1" dirty="0">
                <a:solidFill>
                  <a:srgbClr val="2C3E50"/>
                </a:solidFill>
              </a:rPr>
              <a:t>2. Students &amp; Young Independents</a:t>
            </a:r>
          </a:p>
          <a:p>
            <a:pPr lvl="1"/>
            <a:r>
              <a:rPr sz="2000" b="0" dirty="0">
                <a:solidFill>
                  <a:srgbClr val="2C3E50"/>
                </a:solidFill>
              </a:rPr>
              <a:t>Age: 18-25 years</a:t>
            </a:r>
          </a:p>
          <a:p>
            <a:pPr lvl="1"/>
            <a:r>
              <a:rPr sz="2000" b="0" dirty="0">
                <a:solidFill>
                  <a:srgbClr val="2C3E50"/>
                </a:solidFill>
              </a:rPr>
              <a:t>Characteristics: Tech-savvy, convenience-oriented, price-sensitive</a:t>
            </a:r>
          </a:p>
          <a:p>
            <a:pPr lvl="1"/>
            <a:r>
              <a:rPr sz="2000" b="0" dirty="0">
                <a:solidFill>
                  <a:srgbClr val="2C3E50"/>
                </a:solidFill>
              </a:rPr>
              <a:t>Key message: "Your laundry made easy with just a tap"</a:t>
            </a:r>
          </a:p>
        </p:txBody>
      </p:sp>
      <p:pic>
        <p:nvPicPr>
          <p:cNvPr id="4" name="Picture 3" descr="cleanswift_app_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548" y="1742635"/>
            <a:ext cx="2827606" cy="45016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877" y="679083"/>
            <a:ext cx="8229600" cy="1143000"/>
          </a:xfrm>
        </p:spPr>
        <p:txBody>
          <a:bodyPr/>
          <a:lstStyle/>
          <a:p>
            <a:pPr algn="l"/>
            <a:r>
              <a:rPr sz="3600" b="1" dirty="0">
                <a:solidFill>
                  <a:srgbClr val="2C3E50"/>
                </a:solidFill>
              </a:rPr>
              <a:t>Marketing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877" y="1554796"/>
            <a:ext cx="9390184" cy="4356834"/>
          </a:xfrm>
        </p:spPr>
        <p:txBody>
          <a:bodyPr>
            <a:normAutofit fontScale="92500" lnSpcReduction="20000"/>
          </a:bodyPr>
          <a:lstStyle/>
          <a:p>
            <a:pPr algn="l"/>
            <a:endParaRPr dirty="0"/>
          </a:p>
          <a:p>
            <a:r>
              <a:rPr sz="2600" b="1" dirty="0">
                <a:solidFill>
                  <a:srgbClr val="3498DB"/>
                </a:solidFill>
              </a:rPr>
              <a:t>Market Objectives:</a:t>
            </a:r>
          </a:p>
          <a:p>
            <a:r>
              <a:rPr sz="1900" b="1" dirty="0">
                <a:solidFill>
                  <a:srgbClr val="2C3E50"/>
                </a:solidFill>
              </a:rPr>
              <a:t>Acquire 500 active customers within 6 months</a:t>
            </a:r>
          </a:p>
          <a:p>
            <a:r>
              <a:rPr sz="1900" b="1" dirty="0">
                <a:solidFill>
                  <a:srgbClr val="2C3E50"/>
                </a:solidFill>
              </a:rPr>
              <a:t>Achieve 20% brand recall within one year</a:t>
            </a:r>
          </a:p>
          <a:p>
            <a:r>
              <a:rPr sz="1900" b="1" dirty="0">
                <a:solidFill>
                  <a:srgbClr val="2C3E50"/>
                </a:solidFill>
              </a:rPr>
              <a:t>Establish operations in all neighborhoods of </a:t>
            </a:r>
            <a:r>
              <a:rPr sz="1900" b="1" dirty="0" err="1">
                <a:solidFill>
                  <a:srgbClr val="2C3E50"/>
                </a:solidFill>
              </a:rPr>
              <a:t>Tulkarm</a:t>
            </a:r>
            <a:endParaRPr sz="1900" b="1" dirty="0">
              <a:solidFill>
                <a:srgbClr val="2C3E50"/>
              </a:solidFill>
            </a:endParaRPr>
          </a:p>
          <a:p>
            <a:pPr>
              <a:spcBef>
                <a:spcPts val="1500"/>
              </a:spcBef>
            </a:pPr>
            <a:r>
              <a:rPr sz="2600" b="1" dirty="0">
                <a:solidFill>
                  <a:srgbClr val="2ECC71"/>
                </a:solidFill>
              </a:rPr>
              <a:t>Financial Objectives:</a:t>
            </a:r>
          </a:p>
          <a:p>
            <a:r>
              <a:rPr sz="1900" b="1" dirty="0">
                <a:solidFill>
                  <a:srgbClr val="2C3E50"/>
                </a:solidFill>
              </a:rPr>
              <a:t>Reach break-even within 12-18 months</a:t>
            </a:r>
          </a:p>
          <a:p>
            <a:r>
              <a:rPr sz="1900" b="1" dirty="0">
                <a:solidFill>
                  <a:srgbClr val="2C3E50"/>
                </a:solidFill>
              </a:rPr>
              <a:t>Increase average order value by 10% in first year</a:t>
            </a:r>
          </a:p>
          <a:p>
            <a:r>
              <a:rPr sz="1900" b="1" dirty="0">
                <a:solidFill>
                  <a:srgbClr val="2C3E50"/>
                </a:solidFill>
              </a:rPr>
              <a:t>Achieve 15% profit margin by end of second year</a:t>
            </a:r>
          </a:p>
          <a:p>
            <a:pPr>
              <a:spcBef>
                <a:spcPts val="1500"/>
              </a:spcBef>
            </a:pPr>
            <a:r>
              <a:rPr sz="2600" b="1" dirty="0">
                <a:solidFill>
                  <a:srgbClr val="F1C40F"/>
                </a:solidFill>
              </a:rPr>
              <a:t>Operational Objectives:</a:t>
            </a:r>
          </a:p>
          <a:p>
            <a:r>
              <a:rPr sz="1900" b="1" dirty="0">
                <a:solidFill>
                  <a:srgbClr val="2C3E50"/>
                </a:solidFill>
              </a:rPr>
              <a:t>Maintain 48-hour average delivery time</a:t>
            </a:r>
          </a:p>
          <a:p>
            <a:r>
              <a:rPr sz="1900" b="1" dirty="0">
                <a:solidFill>
                  <a:srgbClr val="2C3E50"/>
                </a:solidFill>
              </a:rPr>
              <a:t>Achieve 98%+ order accuracy rate</a:t>
            </a:r>
          </a:p>
          <a:p>
            <a:r>
              <a:rPr sz="1900" b="1" dirty="0">
                <a:solidFill>
                  <a:srgbClr val="2C3E50"/>
                </a:solidFill>
              </a:rPr>
              <a:t>Attain 4.5+ star average customer rating</a:t>
            </a:r>
            <a:endParaRPr sz="1800" b="1" dirty="0">
              <a:solidFill>
                <a:srgbClr val="2C3E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2706"/>
            <a:ext cx="8229600" cy="1143000"/>
          </a:xfrm>
        </p:spPr>
        <p:txBody>
          <a:bodyPr/>
          <a:lstStyle/>
          <a:p>
            <a:pPr algn="l"/>
            <a:r>
              <a:rPr sz="3600" b="1" dirty="0">
                <a:solidFill>
                  <a:srgbClr val="2C3E50"/>
                </a:solidFill>
              </a:rPr>
              <a:t>Marketing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endParaRPr/>
          </a:p>
          <a:p>
            <a:r>
              <a:rPr sz="2400" b="1">
                <a:solidFill>
                  <a:srgbClr val="3498DB"/>
                </a:solidFill>
              </a:rPr>
              <a:t>Competitive Strategy: Focused Differentiation</a:t>
            </a:r>
          </a:p>
          <a:p>
            <a:r>
              <a:rPr sz="1800">
                <a:solidFill>
                  <a:srgbClr val="2C3E50"/>
                </a:solidFill>
              </a:rPr>
              <a:t>We will focus on specific market segments in Tulkarm with a differentiated service offering that emphasizes convenience, quality, and technology.</a:t>
            </a:r>
          </a:p>
          <a:p>
            <a:pPr>
              <a:spcBef>
                <a:spcPts val="1500"/>
              </a:spcBef>
            </a:pPr>
            <a:r>
              <a:rPr sz="2400" b="1">
                <a:solidFill>
                  <a:srgbClr val="3498DB"/>
                </a:solidFill>
              </a:rPr>
              <a:t>Growth Strategy: Market Penetration &amp; Development</a:t>
            </a:r>
          </a:p>
          <a:p>
            <a:r>
              <a:rPr sz="1800" b="0">
                <a:solidFill>
                  <a:srgbClr val="2C3E50"/>
                </a:solidFill>
              </a:rPr>
              <a:t>Phase 1: Establish strong presence in Tulkarm</a:t>
            </a:r>
          </a:p>
          <a:p>
            <a:r>
              <a:rPr sz="1800" b="0">
                <a:solidFill>
                  <a:srgbClr val="2C3E50"/>
                </a:solidFill>
              </a:rPr>
              <a:t>Phase 2: Expand to nearby cities with local operations centers</a:t>
            </a:r>
          </a:p>
          <a:p>
            <a:r>
              <a:rPr sz="1800" b="0">
                <a:solidFill>
                  <a:srgbClr val="2C3E50"/>
                </a:solidFill>
              </a:rPr>
              <a:t>Phase 3: Introduce additional services (alterations, specialty cleaning)</a:t>
            </a:r>
          </a:p>
          <a:p>
            <a:pPr>
              <a:spcBef>
                <a:spcPts val="1500"/>
              </a:spcBef>
            </a:pPr>
            <a:r>
              <a:rPr sz="2400" b="1">
                <a:solidFill>
                  <a:srgbClr val="3498DB"/>
                </a:solidFill>
              </a:rPr>
              <a:t>Key Differentiators:</a:t>
            </a:r>
          </a:p>
          <a:p>
            <a:r>
              <a:rPr sz="1800" b="0">
                <a:solidFill>
                  <a:srgbClr val="2C3E50"/>
                </a:solidFill>
              </a:rPr>
              <a:t>Unparalleled convenience through app-based service</a:t>
            </a:r>
          </a:p>
          <a:p>
            <a:r>
              <a:rPr sz="1800" b="0">
                <a:solidFill>
                  <a:srgbClr val="2C3E50"/>
                </a:solidFill>
              </a:rPr>
              <a:t>High reliability and quality standards</a:t>
            </a:r>
          </a:p>
          <a:p>
            <a:r>
              <a:rPr sz="1800" b="0">
                <a:solidFill>
                  <a:srgbClr val="2C3E50"/>
                </a:solidFill>
              </a:rPr>
              <a:t>Local focus (operations centers in each city)</a:t>
            </a:r>
          </a:p>
          <a:p>
            <a:r>
              <a:rPr sz="1800" b="0">
                <a:solidFill>
                  <a:srgbClr val="2C3E50"/>
                </a:solidFill>
              </a:rPr>
              <a:t>User-friendly technology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2C3E50"/>
                </a:solidFill>
              </a:rPr>
              <a:t>Marketing Mix (7Ps)</a:t>
            </a:r>
          </a:p>
        </p:txBody>
      </p:sp>
      <p:pic>
        <p:nvPicPr>
          <p:cNvPr id="4" name="Picture 3" descr="marketing_mix_7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38" y="1160585"/>
            <a:ext cx="8546123" cy="56974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2C3E50"/>
                </a:solidFill>
              </a:rPr>
              <a:t>Metrics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sz="2400" b="1">
                <a:solidFill>
                  <a:srgbClr val="3498DB"/>
                </a:solidFill>
              </a:rPr>
              <a:t>Key Performance Indicators (KPIs):</a:t>
            </a:r>
          </a:p>
          <a:p>
            <a:r>
              <a:rPr sz="1800" b="0">
                <a:solidFill>
                  <a:srgbClr val="2C3E50"/>
                </a:solidFill>
              </a:rPr>
              <a:t>App downloads and registrations</a:t>
            </a:r>
          </a:p>
          <a:p>
            <a:r>
              <a:rPr sz="1800" b="0">
                <a:solidFill>
                  <a:srgbClr val="2C3E50"/>
                </a:solidFill>
              </a:rPr>
              <a:t>Customer conversion rate</a:t>
            </a:r>
          </a:p>
          <a:p>
            <a:r>
              <a:rPr sz="1800" b="0">
                <a:solidFill>
                  <a:srgbClr val="2C3E50"/>
                </a:solidFill>
              </a:rPr>
              <a:t>Average order value</a:t>
            </a:r>
          </a:p>
          <a:p>
            <a:r>
              <a:rPr sz="1800" b="0">
                <a:solidFill>
                  <a:srgbClr val="2C3E50"/>
                </a:solidFill>
              </a:rPr>
              <a:t>Order frequency</a:t>
            </a:r>
          </a:p>
          <a:p>
            <a:r>
              <a:rPr sz="1800" b="0">
                <a:solidFill>
                  <a:srgbClr val="2C3E50"/>
                </a:solidFill>
              </a:rPr>
              <a:t>Customer ratings and satisfaction</a:t>
            </a:r>
          </a:p>
          <a:p>
            <a:pPr>
              <a:spcBef>
                <a:spcPts val="1500"/>
              </a:spcBef>
            </a:pPr>
            <a:r>
              <a:rPr sz="2400" b="1">
                <a:solidFill>
                  <a:srgbClr val="3498DB"/>
                </a:solidFill>
              </a:rPr>
              <a:t>Implementation Timeline:</a:t>
            </a:r>
          </a:p>
          <a:p>
            <a:r>
              <a:rPr sz="1800" b="0">
                <a:solidFill>
                  <a:srgbClr val="2C3E50"/>
                </a:solidFill>
              </a:rPr>
              <a:t>Month 1-2: App development and testing</a:t>
            </a:r>
          </a:p>
          <a:p>
            <a:r>
              <a:rPr sz="1800" b="0">
                <a:solidFill>
                  <a:srgbClr val="2C3E50"/>
                </a:solidFill>
              </a:rPr>
              <a:t>Month 2-3: Establish operations center and partnerships</a:t>
            </a:r>
          </a:p>
          <a:p>
            <a:r>
              <a:rPr sz="1800" b="0">
                <a:solidFill>
                  <a:srgbClr val="2C3E50"/>
                </a:solidFill>
              </a:rPr>
              <a:t>Month 3: Launch marketing campaign</a:t>
            </a:r>
          </a:p>
          <a:p>
            <a:r>
              <a:rPr sz="1800" b="0">
                <a:solidFill>
                  <a:srgbClr val="2C3E50"/>
                </a:solidFill>
              </a:rPr>
              <a:t>Month 4: Official service launch in Tulkarm</a:t>
            </a:r>
          </a:p>
          <a:p>
            <a:r>
              <a:rPr sz="1800" b="0">
                <a:solidFill>
                  <a:srgbClr val="2C3E50"/>
                </a:solidFill>
              </a:rPr>
              <a:t>Month 6: Evaluation and strategy refinement</a:t>
            </a:r>
          </a:p>
          <a:p>
            <a:r>
              <a:rPr sz="1800" b="0">
                <a:solidFill>
                  <a:srgbClr val="2C3E50"/>
                </a:solidFill>
              </a:rPr>
              <a:t>Month 12: Begin expansion planning to additional cities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2C3E5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9694"/>
            <a:ext cx="8229600" cy="4525963"/>
          </a:xfrm>
        </p:spPr>
        <p:txBody>
          <a:bodyPr/>
          <a:lstStyle/>
          <a:p>
            <a:pPr algn="l"/>
            <a:endParaRPr dirty="0"/>
          </a:p>
          <a:p>
            <a:r>
              <a:rPr sz="2000" b="1" dirty="0" err="1">
                <a:solidFill>
                  <a:srgbClr val="3498DB"/>
                </a:solidFill>
              </a:rPr>
              <a:t>CleanSwift</a:t>
            </a:r>
            <a:r>
              <a:rPr sz="2000" b="1" dirty="0">
                <a:solidFill>
                  <a:srgbClr val="3498DB"/>
                </a:solidFill>
              </a:rPr>
              <a:t> provides an innovative solution to meet the laundry needs in </a:t>
            </a:r>
            <a:r>
              <a:rPr sz="2000" b="1" dirty="0" err="1">
                <a:solidFill>
                  <a:srgbClr val="3498DB"/>
                </a:solidFill>
              </a:rPr>
              <a:t>Tulkarm</a:t>
            </a:r>
            <a:r>
              <a:rPr sz="2000" b="1" dirty="0">
                <a:solidFill>
                  <a:srgbClr val="3498DB"/>
                </a:solidFill>
              </a:rPr>
              <a:t>:</a:t>
            </a:r>
          </a:p>
          <a:p>
            <a:r>
              <a:rPr sz="1800" b="0" dirty="0">
                <a:solidFill>
                  <a:srgbClr val="2C3E50"/>
                </a:solidFill>
              </a:rPr>
              <a:t>Addresses clear market need for convenient, high-quality laundry services</a:t>
            </a:r>
          </a:p>
          <a:p>
            <a:r>
              <a:rPr sz="1800" b="0" dirty="0">
                <a:solidFill>
                  <a:srgbClr val="2C3E50"/>
                </a:solidFill>
              </a:rPr>
              <a:t>Combines technology and service excellence</a:t>
            </a:r>
          </a:p>
          <a:p>
            <a:r>
              <a:rPr sz="1800" b="0" dirty="0">
                <a:solidFill>
                  <a:srgbClr val="2C3E50"/>
                </a:solidFill>
              </a:rPr>
              <a:t>Focused strategy with clear objectives and implementation plan</a:t>
            </a:r>
          </a:p>
          <a:p>
            <a:r>
              <a:rPr sz="1800" b="0" dirty="0">
                <a:solidFill>
                  <a:srgbClr val="2C3E50"/>
                </a:solidFill>
              </a:rPr>
              <a:t>Local operations model addresses transportation challenges</a:t>
            </a:r>
          </a:p>
          <a:p>
            <a:r>
              <a:rPr sz="1800" b="0" dirty="0">
                <a:solidFill>
                  <a:srgbClr val="2C3E50"/>
                </a:solidFill>
              </a:rPr>
              <a:t>Comprehensive marketing mix to drive customer acquisition and retention</a:t>
            </a:r>
          </a:p>
          <a:p>
            <a:r>
              <a:rPr sz="1800" b="0" dirty="0">
                <a:solidFill>
                  <a:srgbClr val="2C3E50"/>
                </a:solidFill>
              </a:rPr>
              <a:t>Scalable business model with potential for expansion</a:t>
            </a:r>
          </a:p>
          <a:p>
            <a:pPr algn="ctr">
              <a:spcBef>
                <a:spcPts val="2000"/>
              </a:spcBef>
            </a:pPr>
            <a:r>
              <a:rPr sz="3200" b="1" dirty="0">
                <a:solidFill>
                  <a:srgbClr val="2C3E50"/>
                </a:solidFill>
              </a:rPr>
              <a:t>Thank You!</a:t>
            </a:r>
          </a:p>
        </p:txBody>
      </p:sp>
      <p:pic>
        <p:nvPicPr>
          <p:cNvPr id="4" name="Picture 3" descr="cleanswi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504" y="5447712"/>
            <a:ext cx="1244991" cy="12449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695</Words>
  <Application>Microsoft Office PowerPoint</Application>
  <PresentationFormat>عرض على الشاشة (4:3)</PresentationFormat>
  <Paragraphs>115</Paragraphs>
  <Slides>13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CleanSwift Laundry App</vt:lpstr>
      <vt:lpstr>Executive Summary</vt:lpstr>
      <vt:lpstr>Mission &amp; Resources</vt:lpstr>
      <vt:lpstr>Services Offered</vt:lpstr>
      <vt:lpstr>PESTEL Analysis</vt:lpstr>
      <vt:lpstr>عرض تقديمي في PowerPoint</vt:lpstr>
      <vt:lpstr>عرض تقديمي في PowerPoint</vt:lpstr>
      <vt:lpstr>Target Market</vt:lpstr>
      <vt:lpstr>Marketing Objectives</vt:lpstr>
      <vt:lpstr>Marketing Strategy</vt:lpstr>
      <vt:lpstr>Marketing Mix (7Ps)</vt:lpstr>
      <vt:lpstr>Metrics &amp; Implementation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CleanSwift Laundry App</dc:title>
  <dc:subject/>
  <dc:creator/>
  <cp:keywords/>
  <dc:description>generated using python-pptx</dc:description>
  <cp:lastModifiedBy>sujood</cp:lastModifiedBy>
  <cp:revision>2</cp:revision>
  <dcterms:created xsi:type="dcterms:W3CDTF">2013-01-27T09:14:16Z</dcterms:created>
  <dcterms:modified xsi:type="dcterms:W3CDTF">2026-02-04T18:11:21Z</dcterms:modified>
  <cp:category/>
</cp:coreProperties>
</file>